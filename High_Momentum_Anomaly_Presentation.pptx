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Spikes (days)</c:v>
                </c:pt>
              </c:strCache>
            </c:strRef>
          </c:tx>
          <c:spPr>
            <a:solidFill>
              <a:srgbClr val="00B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F0F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HDFC</c:v>
                  </c:pt>
                  <c:pt idx="1">
                    <c:v>ICICI</c:v>
                  </c:pt>
                  <c:pt idx="2">
                    <c:v>SBI</c:v>
                  </c:pt>
                  <c:pt idx="3">
                    <c:v>Kotak
Mahindra</c:v>
                  </c:pt>
                  <c:pt idx="4">
                    <c:v>Axis Bank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18</c:v>
                </c:pt>
                <c:pt idx="2">
                  <c:v>15</c:v>
                </c:pt>
                <c:pt idx="3">
                  <c:v>16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8F0F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80E1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HDFC</c:v>
                </c:pt>
              </c:strCache>
            </c:strRef>
          </c:tx>
          <c:spPr>
            <a:solidFill>
              <a:srgbClr val="00BFA5"/>
            </a:solidFill>
            <a:ln w="31750" cap="flat">
              <a:solidFill>
                <a:srgbClr val="00BF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FA5"/>
              </a:solidFill>
              <a:ln w="9525" cap="flat">
                <a:solidFill>
                  <a:srgbClr val="00BF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</c:v>
                </c:pt>
                <c:pt idx="1">
                  <c:v>2.8</c:v>
                </c:pt>
                <c:pt idx="2">
                  <c:v>4.56</c:v>
                </c:pt>
                <c:pt idx="3">
                  <c:v>4.21</c:v>
                </c:pt>
                <c:pt idx="4">
                  <c:v>10.34</c:v>
                </c:pt>
                <c:pt idx="5">
                  <c:v>3.1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Kotak Mahindra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8.25</c:v>
                </c:pt>
                <c:pt idx="1">
                  <c:v>3.4</c:v>
                </c:pt>
                <c:pt idx="2">
                  <c:v>5.21</c:v>
                </c:pt>
                <c:pt idx="3">
                  <c:v>13.24</c:v>
                </c:pt>
                <c:pt idx="4">
                  <c:v>8.38</c:v>
                </c:pt>
                <c:pt idx="5">
                  <c:v>2.6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SBI</c:v>
                </c:pt>
              </c:strCache>
            </c:strRef>
          </c:tx>
          <c:spPr>
            <a:solidFill>
              <a:srgbClr val="22C55E"/>
            </a:solidFill>
            <a:ln w="31750" cap="flat">
              <a:solidFill>
                <a:srgbClr val="22C5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2.8</c:v>
                </c:pt>
                <c:pt idx="1">
                  <c:v>5.57</c:v>
                </c:pt>
                <c:pt idx="2">
                  <c:v>3.8</c:v>
                </c:pt>
                <c:pt idx="3">
                  <c:v>3.72</c:v>
                </c:pt>
                <c:pt idx="4">
                  <c:v>5.1</c:v>
                </c:pt>
                <c:pt idx="5">
                  <c:v>2.2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ICICI</c:v>
                </c:pt>
              </c:strCache>
            </c:strRef>
          </c:tx>
          <c:spPr>
            <a:solidFill>
              <a:srgbClr val="8B5CF6"/>
            </a:solidFill>
            <a:ln w="31750" cap="flat">
              <a:solidFill>
                <a:srgbClr val="8B5C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2.5</c:v>
                </c:pt>
                <c:pt idx="1">
                  <c:v>7.16</c:v>
                </c:pt>
                <c:pt idx="2">
                  <c:v>3.2</c:v>
                </c:pt>
                <c:pt idx="3">
                  <c:v>3.8</c:v>
                </c:pt>
                <c:pt idx="4">
                  <c:v>5.25</c:v>
                </c:pt>
                <c:pt idx="5">
                  <c:v>3.4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Axis Bank</c:v>
                </c:pt>
              </c:strCache>
            </c:strRef>
          </c:tx>
          <c:spPr>
            <a:solidFill>
              <a:srgbClr val="EF4444"/>
            </a:solidFill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2.1</c:v>
                </c:pt>
                <c:pt idx="1">
                  <c:v>4.06</c:v>
                </c:pt>
                <c:pt idx="2">
                  <c:v>4.79</c:v>
                </c:pt>
                <c:pt idx="3">
                  <c:v>2.8</c:v>
                </c:pt>
                <c:pt idx="4">
                  <c:v>4.34</c:v>
                </c:pt>
                <c:pt idx="5">
                  <c:v>5.69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080E1C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presents quantitative findings on high-momentum trading anomalies across 5 Indian bank stocks over 5 years. Focus points: which stocks spiked, when, and what price action followed. Use these insights for volatility-event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HDFC extreme spike. Note that SBI's -14.4% flash crash is the portfolio's biggest tail-risk event. Kotak's 13.2× spike is the highest ratio but price barely moved — classic institutional distribution. Ask desk team: were any of these events on their radar at the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HDFC's 21 events is 26% of all spikes. Kotak is particularly interesting — low absolute volume but the ratios are largest, suggesting a thinner order book. Flag the 3 co-spike dates to the risk team as systematic macro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Jan 17, 2024 event: -8.44% close is one of the steepest single-day drops in HDFC's recent history. Cross-check with Q3 FY24 results — any earnings miss? The August 2024 spike at -0.10% with 8.68× volume is a distribution signal — massive volume, flat price. Ask risk desk if they were net sellers that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2023 Kotak spike at 13.24× is the highest single-event ratio in the dataset. Note the 2024 HDFC surge — 10.34× was driven by a single date (Nov 25). The chart shows Axis Bank 2025 is trending up — monitor closely. Key observation: no year has been free of extreme events (&gt;8×), suggesting structural liquidity risk in Indian banking stocks.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SBI -14.4% is the worst single-day event in the dataset. Cross-check: June 4, 2024 was Indian Lok Sabha election results day — surprise NDA loss of majority. Systemic event, not stock-specific. Kotak May 31, 2023: check F&amp;O expiry — large block deal possible. 13.24× volume with barely any price move is a textbook distribution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bottom-line statement. Emphasize that all 80 events were detectable using only publicly available OHLCV data and a simple rolling average threshold. No proprietary data needed. The P0 actions are doable within a sprint. Offer to set up a Power BI live dashboard as the next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20D1F"/>
          </a:solidFill>
          <a:ln w="12700">
            <a:solidFill>
              <a:srgbClr val="020D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0" y="27432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86868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146304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205740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265176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324612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384048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443484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27432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86868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46304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205740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265176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324612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384048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443484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27432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86868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146304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205740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265176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324612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384048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443484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86600" y="86868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86600" y="146304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205740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86600" y="265176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324612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86600" y="384048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86600" y="443484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27432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0" y="86868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205740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9520" y="265176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9520" y="324612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89520" y="384048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89520" y="443484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92440" y="27432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92440" y="86868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92440" y="146304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92440" y="205740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92440" y="265176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92440" y="324612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92440" y="384048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92440" y="4434840"/>
            <a:ext cx="54864" cy="54864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0BFA5">
              <a:alpha val="8000"/>
            </a:srgbClr>
          </a:solidFill>
          <a:ln w="12700">
            <a:solidFill>
              <a:srgbClr val="00BFA5">
                <a:alpha val="2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65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TRADING DESK INTELLIGENCE REPORT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11480" y="68580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High-Momentum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Patterns</a:t>
            </a:r>
            <a:endParaRPr lang="en-US" sz="3600" dirty="0"/>
          </a:p>
        </p:txBody>
      </p:sp>
      <p:sp>
        <p:nvSpPr>
          <p:cNvPr id="55" name="Shape 53"/>
          <p:cNvSpPr/>
          <p:nvPr/>
        </p:nvSpPr>
        <p:spPr>
          <a:xfrm>
            <a:off x="411480" y="2359152"/>
            <a:ext cx="10972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2468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Banking Sector · 2020 – 2025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11480" y="2926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411480" y="3401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Stocks Analyzed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627632" y="2926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1627632" y="3401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Spikes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843784" y="2926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10.3×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2843784" y="3401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Spike Ratio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059936" y="2926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7,248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4059936" y="3401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Days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11480" y="46634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3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Trading Desk Manager  ·  Date: June 2026  ·  Confidential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577840" y="640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577840" y="987552"/>
            <a:ext cx="73152" cy="7315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42432" y="95097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Bank (NSE: HDFCBANK)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577840" y="1463040"/>
            <a:ext cx="73152" cy="7315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42432" y="1426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Bank (NSE: ICICIBANK)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77840" y="1938528"/>
            <a:ext cx="73152" cy="7315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42432" y="19019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— State Bank of India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577840" y="2414016"/>
            <a:ext cx="73152" cy="7315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42432" y="23774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Kotak Mahindra Bank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577840" y="2889504"/>
            <a:ext cx="73152" cy="7315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42432" y="28529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Bank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577840" y="3566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577840" y="382219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30-day volume baseline
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 threshold: &gt; 3× 30D average
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Bollinger Band + EMA crossover signals
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range: 2020-01-01 to 2025-10-31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at a Glance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2011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11E33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HDFC PEAK SPIKE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10.3×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30 &amp; Nov 25, 2024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23160" y="77724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11E33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32888" y="932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ANOMALIES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14600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32888" y="16276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5 stocks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77724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11E33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81728" y="932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WORST CRASH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63440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-14.4%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81728" y="16276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SBI, Jun 4 2024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20840" y="77724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11E33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30568" y="932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SURGE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12280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+12.1%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30568" y="16276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KOTAK, Oct 27 2020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176272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111E33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176272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00BFA5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240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— Dominant Anomaly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8912" y="2578608"/>
            <a:ext cx="242316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recorded the two highest spike events in the dataset: Aug 30, 2024 (8.7×) and Nov 25, 2024 (10.3× — extreme tier). Both coincided with large-cap index rebalancing events and strong intraday institutional accumulation.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2176272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111E33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2176272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9272" y="2240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— Flash Crash Alert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19272" y="2578608"/>
            <a:ext cx="242316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SBI's Jun 4, 2024 session saw a -14.40% close on 5.1× volume — the single largest negative price move in the dataset. Likely triggered by election outcome uncertainty. Post-event recovery occurred over 12 sessions.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2176272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111E33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2176272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2240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Kotak — Highest Spike Ratio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99632" y="2578608"/>
            <a:ext cx="242316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Kotak Mahindra registered the peak spike ratio of 13.2× on May 31, 2023, with volume reaching 88.6M vs a 30D avg of 6.7M. Price moved only +2.01% — a classic distribution pattern without directional follow-through.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source: NSE/BSE historical OHLCV  |  5 Indian bank stocks  |  2020–2025  |  n=7,248 trading days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SPIKE DISTRIBUTION BY STOCK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93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days where volume exceeded 3× its 30-day rolling average  |  Jan 2020 – Oct 2025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731520"/>
          <a:ext cx="56692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73152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111E33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0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4652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84848" y="11155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leads with 21 spike events — highest institutional activity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46520" y="1892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84848" y="186537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Kotak has 16 spikes but average ratio is highest at 5.3×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46520" y="2642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784848" y="26151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Bank is the least volatile — only 10 spike events over 5Y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4652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784848" y="33649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stocks spiked simultaneously on 3 dates: election-linked macro events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Threshold: Volume ÷ 30D Rolling Average &gt; 3.0×  |  80 total events detected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256032" cy="25603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822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BANK — TOP ANOMALY EVENTS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393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Volume Spike Ratio (Volume ÷ 30D Rolling Average)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13232"/>
          <a:ext cx="8595360" cy="2651760"/>
        </p:xfrm>
        <a:graphic>
          <a:graphicData uri="http://schemas.openxmlformats.org/drawingml/2006/table">
            <a:tbl>
              <a:tblPr/>
              <a:tblGrid>
                <a:gridCol w="1463040"/>
                <a:gridCol w="1417320"/>
                <a:gridCol w="1417320"/>
                <a:gridCol w="1371600"/>
                <a:gridCol w="1280160"/>
                <a:gridCol w="1645920"/>
              </a:tblGrid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Volume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30D Avg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Spike Ratio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 Δ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2024-11-25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427.7M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C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41.4M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10.34×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+2.29%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EXTREME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2024-08-30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445.3M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C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51.3M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B5F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8.68×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-0.10%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B5F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SEVERE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D2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2022-04-04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97.5M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C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21.4M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CD3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4.56×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+10.01%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CD3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NOTABLE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2024-01-17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170.2M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C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36.1M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CD3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4.71×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-8.44%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CD3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NOTABLE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2023-12-15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138.8M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C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32.9M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CD3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4.21×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+0.39%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CD3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NOTABLE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493008"/>
            <a:ext cx="146304" cy="14630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" y="34655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 (10×+)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834640" y="3493008"/>
            <a:ext cx="146304" cy="146304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54096" y="34655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SEVERE (7–10×)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394960" y="3493008"/>
            <a:ext cx="146304" cy="14630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14416" y="34655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NOTABLE (3–7×)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74320" y="3767328"/>
            <a:ext cx="8595360" cy="960120"/>
          </a:xfrm>
          <a:prstGeom prst="roundRect">
            <a:avLst>
              <a:gd name="adj" fmla="val 5714"/>
            </a:avLst>
          </a:prstGeom>
          <a:solidFill>
            <a:srgbClr val="071228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02920" y="3840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2920" y="40690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Nov 25, 2024 event is extraordinary: 427.7M shares traded (10.34× avg) with a positive close (+2.29%). This is consistent with large-cap index inclusion accumulation. The Jan 17, 2024 event (−8.44% on 4.71× volume) is the opposite: a news-driven sell-off with high conviction.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946904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HDFC Bank · NSE: HDFCBANK · Data: 2020-01-01 to 2025-10-31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CROSS-STOCK SPIKE INTENSITY — ANNUAL 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93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annual spike ratio per stock (highest single-day event per year) — systemic risk view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713232"/>
          <a:ext cx="62179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713232"/>
            <a:ext cx="2194560" cy="4114800"/>
          </a:xfrm>
          <a:prstGeom prst="roundRect">
            <a:avLst>
              <a:gd name="adj" fmla="val 3333"/>
            </a:avLst>
          </a:prstGeom>
          <a:solidFill>
            <a:srgbClr val="111E33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12280" y="822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 EXTREMES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858000" y="11155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06640" y="1097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Kotak 8.25×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COVID-era surge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858000" y="16276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06640" y="16093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7.16×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Post-lockdown rally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858000" y="213969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06640" y="21214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Bank 4.79×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hike volatility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858000" y="26517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06640" y="2633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Kotak 13.24×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spike ratio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858000" y="316382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06640" y="31455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10.34×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rebalancing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858000" y="36758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06640" y="3657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5.69×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sell-off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Y-axis = Peak spike ratio in each calendar year  ·  Threshold line = 3.0×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— SBI CRASH vs. KOTAK DISTRIBUTION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393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contrasting anomaly types: directional panic vs. high-volume neutral distribution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60520" cy="4206240"/>
          </a:xfrm>
          <a:prstGeom prst="roundRect">
            <a:avLst>
              <a:gd name="adj" fmla="val 2198"/>
            </a:avLst>
          </a:prstGeom>
          <a:solidFill>
            <a:srgbClr val="111E33"/>
          </a:solidFill>
          <a:ln w="12700">
            <a:solidFill>
              <a:srgbClr val="5B1212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4160520" cy="384048"/>
          </a:xfrm>
          <a:prstGeom prst="roundRect">
            <a:avLst>
              <a:gd name="adj" fmla="val 23810"/>
            </a:avLst>
          </a:prstGeom>
          <a:solidFill>
            <a:srgbClr val="3B0A0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95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SBI — FLASH CRASH EVENT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June 4, 2024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Price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40280" y="15087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₹733.20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8562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Move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40280" y="18562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-14.40%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20370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40280" y="22037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122.4M shares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55117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30D Vol Avg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40280" y="25511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23.98M shares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8986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 Ratio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40280" y="2898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5.10× above avg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2461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Type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40280" y="32461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 Day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59359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40280" y="35935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Election results day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Post-event: SBI recovered the full loss over 12 trading sessions. The high volume confirms panic selling, not just illiquidity.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731520"/>
            <a:ext cx="4160520" cy="4206240"/>
          </a:xfrm>
          <a:prstGeom prst="roundRect">
            <a:avLst>
              <a:gd name="adj" fmla="val 2198"/>
            </a:avLst>
          </a:prstGeom>
          <a:solidFill>
            <a:srgbClr val="111E33"/>
          </a:solidFill>
          <a:ln w="12700">
            <a:solidFill>
              <a:srgbClr val="3D2C02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731520"/>
            <a:ext cx="4160520" cy="384048"/>
          </a:xfrm>
          <a:prstGeom prst="roundRect">
            <a:avLst>
              <a:gd name="adj" fmla="val 23810"/>
            </a:avLst>
          </a:prstGeom>
          <a:solidFill>
            <a:srgbClr val="2A1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7955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 KOTAK — DISTRIBUTION EVENT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11704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31, 2023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15087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Price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75120" y="15087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₹1,892.00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37760" y="18562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Move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75120" y="18562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+2.01%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0" y="220370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675120" y="22037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88.6M shares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37760" y="255117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30D Vol Avg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675120" y="25511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6.69M shares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37760" y="28986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 Ratio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75120" y="2898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13.24× — RECORD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37760" y="32461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Type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675120" y="32461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Day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37760" y="359359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675120" y="35935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major news event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92040" y="39776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institutional distribution: 13.24× volume with only +2.01% close = large sell order absorbed into market demand. Bearish post-event drift observed.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SBI: NSE symbol SBIN  ·  Kotak Mahindra: NSE symbol KOTAKBANK  ·  Both events independently verified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11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5819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Trading Desk Implementation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993392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111E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0665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 SYSTEM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any stock where volume &gt; 3× 30D avg in real-time. 80 events over 5Y — all detectable with a rolling average monitor.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88036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111E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9535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PROTOCOL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317296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calendar overlay is essential. SBI -14.4% on election day confirms systematic risks cluster around known events.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3767328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111E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8404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SIZING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spike days with flat price (Kotak pattern), tighten position limits. High volume + neutral price = institutional distribution.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ITEMS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68096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7863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66360" y="7680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30D rolling volume alert across 5 stocks in live system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408176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66360" y="14081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election/RBI calendar overlay to risk dashboard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048256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06654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66360" y="20482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Back-test a spike reversal strategy: sell day-after extreme spike (3×+)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688336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70662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66360" y="26883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Kotak May 31, 2023 block deal origin via exchange data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328416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22C55E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34670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66360" y="33284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dataset to include FII/DII flow data for cross-correlation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968496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22C55E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9867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66360" y="39684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Power BI live dashboard using this dataset as the source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74904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071228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380390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Indian banking stocks exhibit predictable anomaly clusters. A real-time volume spike monitor would have flagged 80 high-risk days over 5 years — each a risk management or trading opportunity.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46904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by: Sahan  ·  June 2026  ·  Stock Market Time-Series Momentum &amp; Volatility Engine v1.0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High-Momentum Anomaly Patterns — Indian Banking Stocks</dc:title>
  <dc:subject>PptxGenJS Presentation</dc:subject>
  <dc:creator>Sahan</dc:creator>
  <cp:lastModifiedBy>Sahan</cp:lastModifiedBy>
  <cp:revision>1</cp:revision>
  <dcterms:created xsi:type="dcterms:W3CDTF">2026-06-24T20:37:34Z</dcterms:created>
  <dcterms:modified xsi:type="dcterms:W3CDTF">2026-06-24T20:37:34Z</dcterms:modified>
</cp:coreProperties>
</file>